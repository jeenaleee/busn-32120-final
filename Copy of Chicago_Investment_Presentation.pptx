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xCCrq3qvFbJw24tOKBxgOSWt+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B09DF5-BBCD-424A-9EC1-A1E24F4BDAFB}">
  <a:tblStyle styleId="{43B09DF5-BBCD-424A-9EC1-A1E24F4BDA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Top 6 Areas by Total Investment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Investment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Near North Side</c:v>
                  </c:pt>
                  <c:pt idx="1">
                    <c:v>Loop</c:v>
                  </c:pt>
                  <c:pt idx="2">
                    <c:v>Near West Side</c:v>
                  </c:pt>
                  <c:pt idx="3">
                    <c:v>West Town</c:v>
                  </c:pt>
                  <c:pt idx="4">
                    <c:v>Lincoln Park</c:v>
                  </c:pt>
                  <c:pt idx="5">
                    <c:v>Near South Side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3900</c:v>
                </c:pt>
                <c:pt idx="1">
                  <c:v>2500</c:v>
                </c:pt>
                <c:pt idx="2">
                  <c:v>2000</c:v>
                </c:pt>
                <c:pt idx="3">
                  <c:v>1100</c:v>
                </c:pt>
                <c:pt idx="4">
                  <c:v>800</c:v>
                </c:pt>
                <c:pt idx="5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82% of Permits = Renovations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EAD4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0A7A7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Minor Renovation
(&lt;$10K)</c:v>
                </c:pt>
                <c:pt idx="1">
                  <c:v>Major Renovation
($10K–$100K)</c:v>
                </c:pt>
                <c:pt idx="2">
                  <c:v>New Construction
(&gt;$100K)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42.6</c:v>
                </c:pt>
                <c:pt idx="1">
                  <c:v>39.4</c:v>
                </c:pt>
                <c:pt idx="2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Permit Issuance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Permit Count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5900</c:v>
                </c:pt>
                <c:pt idx="1">
                  <c:v>5100</c:v>
                </c:pt>
                <c:pt idx="2">
                  <c:v>5400</c:v>
                </c:pt>
                <c:pt idx="3">
                  <c:v>5200</c:v>
                </c:pt>
                <c:pt idx="4">
                  <c:v>5300</c:v>
                </c:pt>
                <c:pt idx="5">
                  <c:v>5000</c:v>
                </c:pt>
                <c:pt idx="6">
                  <c:v>4900</c:v>
                </c:pt>
                <c:pt idx="7">
                  <c:v>5100</c:v>
                </c:pt>
                <c:pt idx="8">
                  <c:v>4800</c:v>
                </c:pt>
                <c:pt idx="9">
                  <c:v>4600</c:v>
                </c:pt>
                <c:pt idx="10">
                  <c:v>3900</c:v>
                </c:pt>
                <c:pt idx="11">
                  <c:v>3800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1920240"/>
            <a:ext cx="320040" cy="2286000"/>
          </a:xfrm>
          <a:prstGeom prst="rect">
            <a:avLst/>
          </a:prstGeom>
          <a:solidFill>
            <a:srgbClr val="0D9488">
              <a:alpha val="45098"/>
            </a:srgbClr>
          </a:solidFill>
          <a:ln cap="flat" cmpd="sng" w="1270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543800" y="1280160"/>
            <a:ext cx="457200" cy="2926080"/>
          </a:xfrm>
          <a:prstGeom prst="rect">
            <a:avLst/>
          </a:prstGeom>
          <a:solidFill>
            <a:srgbClr val="0D9488">
              <a:alpha val="45098"/>
            </a:srgbClr>
          </a:solidFill>
          <a:ln cap="flat" cmpd="sng" w="1270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138160" y="1645920"/>
            <a:ext cx="365760" cy="2560320"/>
          </a:xfrm>
          <a:prstGeom prst="rect">
            <a:avLst/>
          </a:prstGeom>
          <a:solidFill>
            <a:srgbClr val="0D9488">
              <a:alpha val="45098"/>
            </a:srgbClr>
          </a:solidFill>
          <a:ln cap="flat" cmpd="sng" w="1270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595360" y="2286000"/>
            <a:ext cx="457200" cy="1920240"/>
          </a:xfrm>
          <a:prstGeom prst="rect">
            <a:avLst/>
          </a:prstGeom>
          <a:solidFill>
            <a:srgbClr val="0D9488">
              <a:alpha val="45098"/>
            </a:srgbClr>
          </a:solidFill>
          <a:ln cap="flat" cmpd="sng" w="1270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11480" y="914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CHICAGO BUILDING PERMITS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1417320"/>
            <a:ext cx="6583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Investment Opportunity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Assessment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320040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Real Estate Developers &amp; Investment Firms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411480" y="374904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411480" y="4160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Group 50  |  Audrey Zhang · Jeena Lee · Vincent Wang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Today's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9144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914400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65760" y="914400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60120" y="10058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60120" y="13258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Chicago building permits (2024–present) + neighborhood socioeconomics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00600" y="9144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00600" y="914400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00600" y="914400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94960" y="10058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Where Capital 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94960" y="13258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Geographic concentration across 77 community areas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17627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5760" y="2176272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5760" y="2176272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60120" y="22677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Mix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60120" y="258775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Renovation-heavy market: 82% renovations vs 18% new construction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00600" y="217627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800600" y="2176272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00600" y="2176272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94960" y="22677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Demographics &amp;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394960" y="258775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income levels drive investment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65760" y="3438144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65760" y="3438144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65760" y="3438144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0120" y="352958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Predictive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60120" y="3849624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 &amp; logistic regression to predict project cost and size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00600" y="3438144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00600" y="3438144"/>
            <a:ext cx="5029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00600" y="3438144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94960" y="352958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94960" y="3849624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3-tier investment strategy by capital level and risk tolerance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Data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1417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Chicago Building Permits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" y="19202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691640" y="192024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City of Chicago Socrata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2920" y="2395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Date Range: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691640" y="23957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January 2024 –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28712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Records: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691640" y="287121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~60,000+ permits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334670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Fields: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691640" y="33467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Cost, permit type, community area,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46320" y="822960"/>
            <a:ext cx="3931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983480" y="1417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Chicago Socioeconomic Indicators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983480" y="19202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172200" y="192024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City of Chicago Socrata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983480" y="2395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Coverage: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72200" y="23957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77 community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983480" y="28712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Fields: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72200" y="287121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 capita income, poverty rate, unemployment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983480" y="334670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72200" y="33467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Neighborhood investment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Where Capital Flows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777240"/>
            <a:ext cx="2606040" cy="137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86868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$3.9B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157276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Near North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(#1 by investment)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246120" y="777240"/>
            <a:ext cx="2606040" cy="137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246120" y="86868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r = 0.94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46120" y="157276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Income ↔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126480" y="777240"/>
            <a:ext cx="2606040" cy="137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126480" y="86868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Top 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126480" y="157276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Areas = &gt;50% 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all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4"/>
          <p:cNvGraphicFramePr/>
          <p:nvPr/>
        </p:nvGraphicFramePr>
        <p:xfrm>
          <a:off x="365760" y="2286000"/>
          <a:ext cx="5486400" cy="2560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1" name="Google Shape;111;p4"/>
          <p:cNvSpPr/>
          <p:nvPr/>
        </p:nvSpPr>
        <p:spPr>
          <a:xfrm>
            <a:off x="6035040" y="2286000"/>
            <a:ext cx="2743200" cy="25603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03504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A7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7A70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126480" y="2697480"/>
            <a:ext cx="2560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"Money follows money"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High-income neighborhoods dominate investment. North Side &amp; Downtown capture the vast majority of development capital.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Gentrification signal: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8–12 lower-income areas show above-median construction activity.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Mix &amp; Capital Requirements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274320" y="731520"/>
          <a:ext cx="4114800" cy="32004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22" name="Google Shape;122;p5"/>
          <p:cNvGraphicFramePr/>
          <p:nvPr/>
        </p:nvGraphicFramePr>
        <p:xfrm>
          <a:off x="45720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{43B09DF5-BBCD-424A-9EC1-A1E24F4BDAFB}</a:tableStyleId>
              </a:tblPr>
              <a:tblGrid>
                <a:gridCol w="1920250"/>
                <a:gridCol w="1188725"/>
                <a:gridCol w="1097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Cost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$ Volume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Construction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$300K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Renovation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$24K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Minor Renovation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5"/>
          <p:cNvSpPr/>
          <p:nvPr/>
        </p:nvSpPr>
        <p:spPr>
          <a:xfrm>
            <a:off x="4572000" y="2880360"/>
            <a:ext cx="1417320" cy="1920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0" y="294436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Capital-Intensive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0" y="331012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&gt;$500K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645152" y="3621024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New construction in Tier 1 markets (North Side, Loop)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080760" y="2880360"/>
            <a:ext cx="1417320" cy="1920240"/>
          </a:xfrm>
          <a:prstGeom prst="rect">
            <a:avLst/>
          </a:prstGeom>
          <a:solidFill>
            <a:srgbClr val="0A7A70"/>
          </a:solidFill>
          <a:ln cap="flat" cmpd="sng" w="12700">
            <a:solidFill>
              <a:srgbClr val="0A7A7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080760" y="294436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Value-Add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080760" y="331012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$100K–$500K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153912" y="3621024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Major renovations in Tier 1 &amp; 2 markets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589520" y="2880360"/>
            <a:ext cx="1417320" cy="19202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589520" y="294436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Volume-Based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589520" y="331012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&lt;$100K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662672" y="3621024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High-volume minor renos on South/West Side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EDA Highlights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6"/>
          <p:cNvGraphicFramePr/>
          <p:nvPr/>
        </p:nvGraphicFramePr>
        <p:xfrm>
          <a:off x="365760" y="777240"/>
          <a:ext cx="5303520" cy="2560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3" name="Google Shape;143;p6"/>
          <p:cNvSpPr/>
          <p:nvPr/>
        </p:nvSpPr>
        <p:spPr>
          <a:xfrm>
            <a:off x="5852160" y="777240"/>
            <a:ext cx="292608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852160" y="8412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A7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A7A7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943600" y="123444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Peak: Jan–May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Contractors plan spring/summer work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Trough: Nov–Dec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35–40% fewer permits issued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Submit permits Nov–Feb for faster 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3566160"/>
            <a:ext cx="2651760" cy="1280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65760" y="36301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Q4 Income 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65760" y="400507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60%+ of all investment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246120" y="3566160"/>
            <a:ext cx="2651760" cy="1280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246120" y="36301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Downtown/Loop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46120" y="400507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Dwarfs all other regions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126480" y="3566160"/>
            <a:ext cx="2651760" cy="1280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126480" y="36301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Fee Ratio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126480" y="400507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Consistent across income tiers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Predictive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65760" y="777240"/>
            <a:ext cx="4114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65760" y="77724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1  |  LINEAR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02920" y="129844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Predicts project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(log scale)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02920" y="1920240"/>
            <a:ext cx="640080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02920" y="1920240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234440" y="193852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Explains variance in log-cost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02920" y="2560320"/>
            <a:ext cx="640080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02920" y="2560320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RMSE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34440" y="257860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Root mean squared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2920" y="3200400"/>
            <a:ext cx="640080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02920" y="3200400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234440" y="321868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Mean absolute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02920" y="38587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A7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7A70"/>
                </a:solidFill>
                <a:latin typeface="Calibri"/>
                <a:ea typeface="Calibri"/>
                <a:cs typeface="Calibri"/>
                <a:sym typeface="Calibri"/>
              </a:rPr>
              <a:t>Top predictors: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02920" y="41148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Construction flag,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 capita income, poverty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663440" y="777240"/>
            <a:ext cx="4114800" cy="43891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663440" y="77724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2  |  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800600" y="129844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Classifies major projects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(≥ $100K threshold)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800600" y="1920240"/>
            <a:ext cx="64008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800600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532120" y="193852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Accuracy on 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800600" y="2395728"/>
            <a:ext cx="64008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800600" y="239572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32120" y="241401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 predicted major, how many correct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800600" y="2871216"/>
            <a:ext cx="64008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800600" y="287121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532120" y="288950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 actual major, how many caught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00600" y="3346704"/>
            <a:ext cx="64008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800600" y="334670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532120" y="336499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Harmonic mean of precision &amp;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800600" y="38587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Business use: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800600" y="411480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Screen neighborhoods for high-probability major development before committing capital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Investment Recommendations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20040" y="777240"/>
            <a:ext cx="2697480" cy="40233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20040" y="84124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TIER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Premium Markets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16276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Score &gt; 0.45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548640" y="199339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457200" y="2103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Areas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188720" y="21031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 North Side, Lincoln Park, Loop, Lake 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188720" y="26974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Major construction &amp; new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57200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188720" y="32918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$500K per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3886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88720" y="38862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172968" y="777240"/>
            <a:ext cx="2697480" cy="4023360"/>
          </a:xfrm>
          <a:prstGeom prst="rect">
            <a:avLst/>
          </a:prstGeom>
          <a:solidFill>
            <a:srgbClr val="0A7A70"/>
          </a:solidFill>
          <a:ln cap="flat" cmpd="sng" w="12700">
            <a:solidFill>
              <a:srgbClr val="0A7A7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172968" y="84124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TIER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172968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Emerging Opportunities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172968" y="16276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Score 0.40–0.45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3401568" y="199339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8"/>
          <p:cNvSpPr/>
          <p:nvPr/>
        </p:nvSpPr>
        <p:spPr>
          <a:xfrm>
            <a:off x="3310128" y="2103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Areas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041648" y="21031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 South Side, Edison Park, Beverly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310128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041648" y="26974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Value-add renovations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310128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041648" y="32918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$100K – $500K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310128" y="3886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041648" y="38862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025896" y="777240"/>
            <a:ext cx="2697480" cy="4023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025896" y="84124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TIER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025896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Volume Markets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025896" y="16276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Score &lt; 0.40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8"/>
          <p:cNvCxnSpPr/>
          <p:nvPr/>
        </p:nvCxnSpPr>
        <p:spPr>
          <a:xfrm>
            <a:off x="6254496" y="199339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8"/>
          <p:cNvSpPr/>
          <p:nvPr/>
        </p:nvSpPr>
        <p:spPr>
          <a:xfrm>
            <a:off x="6163056" y="2103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Areas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894576" y="21031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South Side &amp; West Side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163056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894576" y="26974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High-volume minor renovations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163056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894576" y="32918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$100K per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163056" y="3886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894576" y="38862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/ Operational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Conclusions &amp; Next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9"/>
          <p:cNvCxnSpPr/>
          <p:nvPr/>
        </p:nvCxnSpPr>
        <p:spPr>
          <a:xfrm>
            <a:off x="365760" y="868680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365760" y="10058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65760" y="1371600"/>
            <a:ext cx="45720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Money follows money — r=0.94 income↔investment correlation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0F2F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82% of permits are renovations; new construction drives 95.6% of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0F2F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8–12 gentrification-stage areas offer the best risk-adjusted upside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0F2F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Seasonality is real — submit permits Nov–Feb for faster approvals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0F2F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Investment score framework enables systematic, data-driven screening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303520" y="1005840"/>
            <a:ext cx="3474720" cy="31089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303520" y="10789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40680" y="150876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5–10 year historical permit trends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Crime &amp; school quality data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Transit proximity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ML neighborhood forecasting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0F2F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Validate investment score weights with actual ROI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Thank you  ·  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2026-03-08T17:31:23Z</dcterms:created>
  <dc:creator>PptxGenJS</dc:creator>
</cp:coreProperties>
</file>